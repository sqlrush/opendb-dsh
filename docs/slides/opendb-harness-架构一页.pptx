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115"/>
                </a:solidFill>
                <a:latin typeface="PingFang SC"/>
              </a:rPr>
              <a:t>opendb-harness 架构总览</a:t>
            </a:r>
            <a:r>
              <a:rPr sz="1400" b="0">
                <a:solidFill>
                  <a:srgbClr val="61666B"/>
                </a:solidFill>
                <a:latin typeface="PingFang SC"/>
              </a:rPr>
              <a:t>   基于 Kubernetes 的多角色 Pod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176E6"/>
                </a:solidFill>
                <a:latin typeface="PingFang SC"/>
              </a:rPr>
              <a:t>所有角色皆为可水平扩展的 Pod · 应对大型数据库集群管理 · 支撑数千人同时访问 · 上下文与记忆在 Pod 之间无缝切换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7406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72603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用户层</a:t>
            </a:r>
            <a:r>
              <a:rPr sz="900" b="1">
                <a:solidFill>
                  <a:srgbClr val="C9CED6"/>
                </a:solidFill>
                <a:latin typeface="PingFang SC"/>
              </a:rPr>
              <a:t>  数千并发用户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08176"/>
            <a:ext cx="72603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浏览器（DBA / 开发 / 值班）通过 Ingress · Service 负载均衡接入，HTTP 与 WebSocket 可落到任意 Host 副本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47088"/>
            <a:ext cx="6720840" cy="987552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5875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1883664"/>
            <a:ext cx="65745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Host Pod（接入与调度层）</a:t>
            </a:r>
            <a:r>
              <a:rPr sz="900" b="1">
                <a:solidFill>
                  <a:srgbClr val="4176E6"/>
                </a:solidFill>
                <a:latin typeface="PingFang SC"/>
              </a:rPr>
              <a:t>  Deployment ×N · 无状态 · KEDA 按连接数扩缩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6574536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会话接入：HTTP / WebSocket、认证、排队投影（提问入队、可编辑 / 插队 / 撤回）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任务调度引擎（cron / 手动 / 事件）、任务大盘与插件 UI 服务、会话日志镜像回放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跨副本扇出：任一副本收到的事件经 PG NOTIFY 同步到所有副本——用户落在哪个副本都一致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6720840" cy="1078992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5875">
            <a:solidFill>
              <a:srgbClr val="3FA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0352" y="3054096"/>
            <a:ext cx="65745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Runtime Pod（执行层）</a:t>
            </a:r>
            <a:r>
              <a:rPr sz="900" b="1">
                <a:solidFill>
                  <a:srgbClr val="3FA552"/>
                </a:solidFill>
                <a:latin typeface="PingFang SC"/>
              </a:rPr>
              <a:t>  Deployment ×N · KEDA 按队列深度扩缩（2 → 20+）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328415"/>
            <a:ext cx="6574536" cy="731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从 PostgreSQL 队列认领会话轮次，编排大模型推理与工具调用，写会话日志（单写者）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只读诊断工具：SQL 执行 / EXPLAIN / 指标 / 健康 · Top SQL · WDR · DDL 采集器，结果存档供大盘直读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· 心跳所有权栅栏 + 轮次看门狗 + 失败重投：Pod 滚动或故障时提问不丢、不重复执行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79392"/>
            <a:ext cx="3566160" cy="786384"/>
          </a:xfrm>
          <a:prstGeom prst="roundRect">
            <a:avLst>
              <a:gd name="adj" fmla="val 8000"/>
            </a:avLst>
          </a:prstGeom>
          <a:solidFill>
            <a:srgbClr val="FAF3E5"/>
          </a:solidFill>
          <a:ln w="15875">
            <a:solidFill>
              <a:srgbClr val="C98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0352" y="4315968"/>
            <a:ext cx="34198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Collector Pod（采集层）</a:t>
            </a:r>
            <a:r>
              <a:rPr sz="900" b="1">
                <a:solidFill>
                  <a:srgbClr val="C9862D"/>
                </a:solidFill>
                <a:latin typeface="PingFang SC"/>
              </a:rPr>
              <a:t>  ×N · 可按节点分片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590288"/>
            <a:ext cx="3419856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每分钟采集指标（TPS / 连接 / 等待 / 缓存…）与数据字典快照</a:t>
            </a:r>
          </a:p>
          <a:p>
            <a:pPr algn="l">
              <a:lnSpc>
                <a:spcPct val="112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写入 TimescaleDB：趋势曲线 · 健康判定 · DDL 变更追溯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279392"/>
            <a:ext cx="2971800" cy="786384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5875">
            <a:solidFill>
              <a:srgbClr val="B8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79392" y="4315968"/>
            <a:ext cx="28254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大模型服务</a:t>
            </a:r>
            <a:r>
              <a:rPr sz="900" b="1">
                <a:solidFill>
                  <a:srgbClr val="B8BCC4"/>
                </a:solidFill>
                <a:latin typeface="PingFang SC"/>
              </a:rPr>
              <a:t>  外部 API / 本机推理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4590288"/>
            <a:ext cx="2825496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Runtime 统一编排调用，可按会话 / 任务切换模型</a:t>
            </a:r>
          </a:p>
          <a:p>
            <a:pPr algn="l">
              <a:lnSpc>
                <a:spcPct val="112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模型只做归因与建议，数字来自确定性采集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48656"/>
            <a:ext cx="7406640" cy="8229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B8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0352" y="5285232"/>
            <a:ext cx="72603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共享状态层（StatefulSet / 持久卷）</a:t>
            </a:r>
            <a:r>
              <a:rPr sz="900" b="1">
                <a:solidFill>
                  <a:srgbClr val="B8BCC4"/>
                </a:solidFill>
                <a:latin typeface="PingFang SC"/>
              </a:rPr>
              <a:t>  所有会话、记忆、队列、指标的唯一真相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59552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PostgreSQL + TimescaleDB</a:t>
            </a:r>
          </a:p>
          <a:p>
            <a:pPr algn="l">
              <a:lnSpc>
                <a:spcPct val="110000"/>
              </a:lnSpc>
            </a:pPr>
            <a:r>
              <a:rPr sz="819" b="0">
                <a:solidFill>
                  <a:srgbClr val="61666B"/>
                </a:solidFill>
                <a:latin typeface="PingFang SC"/>
              </a:rPr>
              <a:t>会话日志 · 排队 · 任务 · 指标 · 记忆(pgvector) · 知识 · 阈值 · 采集存档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559552"/>
            <a:ext cx="1600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Redis</a:t>
            </a:r>
          </a:p>
          <a:p>
            <a:pPr algn="l">
              <a:lnSpc>
                <a:spcPct val="110000"/>
              </a:lnSpc>
            </a:pPr>
            <a:r>
              <a:rPr sz="819" b="0">
                <a:solidFill>
                  <a:srgbClr val="61666B"/>
                </a:solidFill>
                <a:latin typeface="PingFang SC"/>
              </a:rPr>
              <a:t>kv 状态 · 会话注册表 · 版本键（跨副本）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559552"/>
            <a:ext cx="13258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MinIO</a:t>
            </a:r>
          </a:p>
          <a:p>
            <a:pPr algn="l">
              <a:lnSpc>
                <a:spcPct val="110000"/>
              </a:lnSpc>
            </a:pPr>
            <a:r>
              <a:rPr sz="819" b="0">
                <a:solidFill>
                  <a:srgbClr val="61666B"/>
                </a:solidFill>
                <a:latin typeface="PingFang SC"/>
              </a:rPr>
              <a:t>附件 · 溢写 · 大结果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59552"/>
            <a:ext cx="14630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Qdrant</a:t>
            </a:r>
          </a:p>
          <a:p>
            <a:pPr algn="l">
              <a:lnSpc>
                <a:spcPct val="110000"/>
              </a:lnSpc>
            </a:pPr>
            <a:r>
              <a:rPr sz="819" b="0">
                <a:solidFill>
                  <a:srgbClr val="61666B"/>
                </a:solidFill>
                <a:latin typeface="PingFang SC"/>
              </a:rPr>
              <a:t>记忆 / 知识向量检索加速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236208"/>
            <a:ext cx="7406640" cy="420624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587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0352" y="6272784"/>
            <a:ext cx="72603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被管数据库集群</a:t>
            </a:r>
            <a:r>
              <a:rPr sz="900" b="1">
                <a:solidFill>
                  <a:srgbClr val="E07A1F"/>
                </a:solidFill>
                <a:latin typeface="PingFang SC"/>
              </a:rPr>
              <a:t>  openGauss / PostgreSQL 节点 ×N（成百上千）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254496"/>
            <a:ext cx="315467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61666B"/>
                </a:solidFill>
                <a:latin typeface="PingFang SC"/>
              </a:rPr>
              <a:t>只读账号访问，能做什么由数据库侧权限决定；Runtime 诊断 / Collector 采集分别连接各节点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17620" y="1664208"/>
            <a:ext cx="0" cy="182880"/>
          </a:xfrm>
          <a:prstGeom prst="line">
            <a:avLst/>
          </a:prstGeom>
          <a:ln w="15875">
            <a:solidFill>
              <a:srgbClr val="4176E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27348" y="1682496"/>
            <a:ext cx="173736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HTTP / WebSocket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17620" y="2834640"/>
            <a:ext cx="0" cy="182880"/>
          </a:xfrm>
          <a:prstGeom prst="line">
            <a:avLst/>
          </a:prstGeom>
          <a:ln w="15875">
            <a:solidFill>
              <a:srgbClr val="61666B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27348" y="2852928"/>
            <a:ext cx="310896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不直连：经 PostgreSQL 队列会合 / 日志镜像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03120" y="4096512"/>
            <a:ext cx="0" cy="182880"/>
          </a:xfrm>
          <a:prstGeom prst="line">
            <a:avLst/>
          </a:prstGeom>
          <a:ln w="15875">
            <a:solidFill>
              <a:srgbClr val="C986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12848" y="4114800"/>
            <a:ext cx="201168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采集器调用 / 结果存档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87568" y="4096512"/>
            <a:ext cx="0" cy="182880"/>
          </a:xfrm>
          <a:prstGeom prst="line">
            <a:avLst/>
          </a:prstGeom>
          <a:ln w="15875">
            <a:solidFill>
              <a:srgbClr val="61666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97296" y="4114800"/>
            <a:ext cx="128016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推理调用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03120" y="5065776"/>
            <a:ext cx="0" cy="182880"/>
          </a:xfrm>
          <a:prstGeom prst="line">
            <a:avLst/>
          </a:prstGeom>
          <a:ln w="15875">
            <a:solidFill>
              <a:srgbClr val="6166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12848" y="5084064"/>
            <a:ext cx="164592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指标 · 字典快照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17620" y="6071616"/>
            <a:ext cx="0" cy="164592"/>
          </a:xfrm>
          <a:prstGeom prst="line">
            <a:avLst/>
          </a:prstGeom>
          <a:ln w="15875">
            <a:solidFill>
              <a:srgbClr val="E07A1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27348" y="6080760"/>
            <a:ext cx="274320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只读诊断 / 指标采集连接（经 Runtime / Collector）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78040" y="2340864"/>
            <a:ext cx="365760" cy="0"/>
          </a:xfrm>
          <a:prstGeom prst="line">
            <a:avLst/>
          </a:prstGeom>
          <a:ln w="19050">
            <a:solidFill>
              <a:srgbClr val="417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8040" y="3557016"/>
            <a:ext cx="365760" cy="0"/>
          </a:xfrm>
          <a:prstGeom prst="line">
            <a:avLst/>
          </a:prstGeom>
          <a:ln w="19050">
            <a:solidFill>
              <a:srgbClr val="417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43800" y="2340864"/>
            <a:ext cx="0" cy="2907792"/>
          </a:xfrm>
          <a:prstGeom prst="line">
            <a:avLst/>
          </a:prstGeom>
          <a:ln w="19050">
            <a:solidFill>
              <a:srgbClr val="4176E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214616" y="3749039"/>
            <a:ext cx="658368" cy="548640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4176E6"/>
                </a:solidFill>
                <a:latin typeface="PingFang SC"/>
              </a:rPr>
              <a:t>PG 队列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4176E6"/>
                </a:solidFill>
                <a:latin typeface="PingFang SC"/>
              </a:rPr>
              <a:t>会话日志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4176E6"/>
                </a:solidFill>
                <a:latin typeface="PingFang SC"/>
              </a:rPr>
              <a:t>NOTIFY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1097280"/>
            <a:ext cx="3657600" cy="5632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1170432"/>
            <a:ext cx="3383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115"/>
                </a:solidFill>
                <a:latin typeface="PingFang SC"/>
              </a:rPr>
              <a:t>架构特点</a:t>
            </a:r>
          </a:p>
        </p:txBody>
      </p:sp>
      <p:sp>
        <p:nvSpPr>
          <p:cNvPr id="46" name="Oval 45"/>
          <p:cNvSpPr/>
          <p:nvPr/>
        </p:nvSpPr>
        <p:spPr>
          <a:xfrm>
            <a:off x="8257031" y="1591056"/>
            <a:ext cx="274320" cy="274320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2792" y="1554480"/>
            <a:ext cx="2971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全角色水平扩展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22792" y="1847088"/>
            <a:ext cx="2971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61666B"/>
                </a:solidFill>
                <a:latin typeface="PingFang SC"/>
              </a:rPr>
              <a:t>Host / Runtime / Collector 都是无状态 Deployment，KEDA 按连接数、队列深度自动扩缩（Runtime 池 2 → 20+）。数据面按节点分片，可管理成百上千个数据库节点、支撑数千人同时在线，扩容只是加副本。</a:t>
            </a:r>
          </a:p>
        </p:txBody>
      </p:sp>
      <p:sp>
        <p:nvSpPr>
          <p:cNvPr id="49" name="Oval 48"/>
          <p:cNvSpPr/>
          <p:nvPr/>
        </p:nvSpPr>
        <p:spPr>
          <a:xfrm>
            <a:off x="8257031" y="2871216"/>
            <a:ext cx="274320" cy="274320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92" y="2834640"/>
            <a:ext cx="2971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上下文与记忆跨 Pod 无缝切换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22792" y="3127248"/>
            <a:ext cx="2971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61666B"/>
                </a:solidFill>
                <a:latin typeface="PingFang SC"/>
              </a:rPr>
              <a:t>会话日志、排队、任务、长期记忆全部落 PostgreSQL；任意 Runtime 都能接续任意会话，Host 多副本经 PG NOTIFY 扇出，浏览器落到哪个副本看到的都一致。Pod 滚动或故障时轮次自动重投、心跳所有权栅栏保证不丢提问、不重复执行。</a:t>
            </a:r>
          </a:p>
        </p:txBody>
      </p:sp>
      <p:sp>
        <p:nvSpPr>
          <p:cNvPr id="52" name="Oval 51"/>
          <p:cNvSpPr/>
          <p:nvPr/>
        </p:nvSpPr>
        <p:spPr>
          <a:xfrm>
            <a:off x="8257031" y="4151375"/>
            <a:ext cx="274320" cy="274320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4114800"/>
            <a:ext cx="2971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确定性采集 + 模型解读分离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2792" y="4407407"/>
            <a:ext cx="2971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61666B"/>
                </a:solidFill>
                <a:latin typeface="PingFang SC"/>
              </a:rPr>
              <a:t>采集器产出确定性数字（榜单、占比、阈值判定、耗时构成、等待事件）直读入任务大盘，模型只做归因与建议；平台只读定位，能做什么由数据库账号权限决定。</a:t>
            </a:r>
          </a:p>
        </p:txBody>
      </p:sp>
      <p:sp>
        <p:nvSpPr>
          <p:cNvPr id="55" name="Oval 54"/>
          <p:cNvSpPr/>
          <p:nvPr/>
        </p:nvSpPr>
        <p:spPr>
          <a:xfrm>
            <a:off x="8257031" y="5431536"/>
            <a:ext cx="274320" cy="274320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2792" y="5394960"/>
            <a:ext cx="29718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万物皆插件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2792" y="5687568"/>
            <a:ext cx="29718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60" b="0">
                <a:solidFill>
                  <a:srgbClr val="61666B"/>
                </a:solidFill>
                <a:latin typeface="PingFang SC"/>
              </a:rPr>
              <a:t>任务类型（健康检查 / Top SQL / WDR / DDL）、诊断工具、任务面板、存储后端均为插件；新增能力只加插件包，不改平台核心，双侧（服务端 + 浏览器端）各自注册。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675120"/>
            <a:ext cx="73152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1858C"/>
                </a:solidFill>
                <a:latin typeface="PingFang SC"/>
              </a:rPr>
              <a:t>图例：实线箭头 = 直接连接；虚线 = 经共享状态层间接会合；×N = 可水平扩展副本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6675120"/>
            <a:ext cx="3566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>
                <a:solidFill>
                  <a:srgbClr val="81858C"/>
                </a:solidFill>
                <a:latin typeface="PingFang SC"/>
              </a:rPr>
              <a:t>opendb-harness · 架构一页 ·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