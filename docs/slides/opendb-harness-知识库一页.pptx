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1115"/>
                </a:solidFill>
                <a:latin typeface="PingFang SC"/>
              </a:rPr>
              <a:t>客户知识库：让平台"懂工行"</a:t>
            </a:r>
            <a:r>
              <a:rPr sz="1400" b="0">
                <a:solidFill>
                  <a:srgbClr val="61666B"/>
                </a:solidFill>
                <a:latin typeface="PingFang SC"/>
              </a:rPr>
              <a:t>   把多年 GaussDB 实战沉淀，变成平台的判断力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176E6"/>
                </a:solidFill>
                <a:latin typeface="PingFang SC"/>
              </a:rPr>
              <a:t>规范 · 工单 · 故障总结  →  自动结构化  →  三类存储各司其职  →  每条结论都按工行口径给方案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21284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30352" y="1225296"/>
            <a:ext cx="206654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使用规范</a:t>
            </a:r>
            <a:r>
              <a:rPr sz="900" b="1">
                <a:solidFill>
                  <a:srgbClr val="C9CED6"/>
                </a:solidFill>
                <a:latin typeface="PingFang SC"/>
              </a:rPr>
              <a:t>  几十篇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79776" y="1188720"/>
            <a:ext cx="221284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852928" y="1225296"/>
            <a:ext cx="206654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处理工单</a:t>
            </a:r>
            <a:r>
              <a:rPr sz="900" b="1">
                <a:solidFill>
                  <a:srgbClr val="C9CED6"/>
                </a:solidFill>
                <a:latin typeface="PingFang SC"/>
              </a:rPr>
              <a:t>  上千条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352" y="1188720"/>
            <a:ext cx="2212848" cy="402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75504" y="1225296"/>
            <a:ext cx="2066543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故障总结</a:t>
            </a:r>
            <a:r>
              <a:rPr sz="900" b="1">
                <a:solidFill>
                  <a:srgbClr val="C9CED6"/>
                </a:solidFill>
                <a:latin typeface="PingFang SC"/>
              </a:rPr>
              <a:t>  上百份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42415"/>
            <a:ext cx="365760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① 工行既有资料 · 多来源 · 无统一结构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92224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15875">
            <a:solidFill>
              <a:srgbClr val="3FA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30352" y="1828800"/>
            <a:ext cx="67116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115"/>
                </a:solidFill>
                <a:latin typeface="PingFang SC"/>
              </a:rPr>
              <a:t>② 自动加工成"可判定"的知识</a:t>
            </a:r>
            <a:r>
              <a:rPr sz="900" b="1">
                <a:solidFill>
                  <a:srgbClr val="3FA552"/>
                </a:solidFill>
                <a:latin typeface="PingFang SC"/>
              </a:rPr>
              <a:t>  模型抽取 + 人工确认后方可引用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48256"/>
            <a:ext cx="2194560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规范 → 条款卡</a:t>
            </a:r>
          </a:p>
          <a:p>
            <a:pPr algn="l">
              <a:lnSpc>
                <a:spcPct val="110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约束对象 · 要求值 · 强制/建议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048256"/>
            <a:ext cx="2194560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工单 → 处置卡</a:t>
            </a:r>
          </a:p>
          <a:p>
            <a:pPr algn="l">
              <a:lnSpc>
                <a:spcPct val="110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现象 · 动作 · 耗时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048256"/>
            <a:ext cx="2194560" cy="402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0F1115"/>
                </a:solidFill>
                <a:latin typeface="PingFang SC"/>
              </a:rPr>
              <a:t>故障 → 案例卡</a:t>
            </a:r>
          </a:p>
          <a:p>
            <a:pPr algn="l">
              <a:lnSpc>
                <a:spcPct val="110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根因 · 处置 · 防复发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432304"/>
            <a:ext cx="667512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>
                <a:solidFill>
                  <a:srgbClr val="61666B"/>
                </a:solidFill>
                <a:latin typeface="PingFang SC"/>
              </a:rPr>
              <a:t>统一打标：适用引擎与环境 · 生效期 · 版本（重灌出新版，引用可追溯）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88336"/>
            <a:ext cx="502920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③ 三类存储各司其职：真相只有一份，能力互补，任一层不可用都能降级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80944"/>
            <a:ext cx="2103120" cy="1152144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30352" y="3017520"/>
            <a:ext cx="195681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关系型数据库</a:t>
            </a:r>
            <a:r>
              <a:rPr sz="850" b="1">
                <a:solidFill>
                  <a:srgbClr val="8A9099"/>
                </a:solidFill>
                <a:latin typeface="PingFang SC"/>
              </a:rPr>
              <a:t>  唯一真相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3273551"/>
            <a:ext cx="1956816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三种卡片 · 版本 · 引用台账</a:t>
            </a:r>
          </a:p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记忆：这套库我们做过什么</a:t>
            </a:r>
          </a:p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按引擎/环境/生效期精确过滤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980944"/>
            <a:ext cx="2103120" cy="1152144"/>
          </a:xfrm>
          <a:prstGeom prst="roundRect">
            <a:avLst>
              <a:gd name="adj" fmla="val 8000"/>
            </a:avLst>
          </a:prstGeom>
          <a:solidFill>
            <a:srgbClr val="FDF0E3"/>
          </a:solidFill>
          <a:ln w="15875">
            <a:solidFill>
              <a:srgbClr val="C98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07792" y="3017520"/>
            <a:ext cx="195681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向量数据库</a:t>
            </a:r>
            <a:r>
              <a:rPr sz="850" b="1">
                <a:solidFill>
                  <a:srgbClr val="C9862D"/>
                </a:solidFill>
                <a:latin typeface="PingFang SC"/>
              </a:rPr>
              <a:t>  语义召回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07792" y="3273551"/>
            <a:ext cx="1956816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说法不同、意思相同也能召回</a:t>
            </a:r>
          </a:p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"连接打满" ↔ "连接超阈值"</a:t>
            </a:r>
          </a:p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只加速，不存真相，可重建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2980944"/>
            <a:ext cx="2103120" cy="1152144"/>
          </a:xfrm>
          <a:prstGeom prst="roundRect">
            <a:avLst>
              <a:gd name="adj" fmla="val 8000"/>
            </a:avLst>
          </a:prstGeom>
          <a:solidFill>
            <a:srgbClr val="F3EEFC"/>
          </a:solidFill>
          <a:ln w="15875">
            <a:solidFill>
              <a:srgbClr val="8B6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285232" y="3017520"/>
            <a:ext cx="195681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图数据库</a:t>
            </a:r>
            <a:r>
              <a:rPr sz="850" b="1">
                <a:solidFill>
                  <a:srgbClr val="8B6BE0"/>
                </a:solidFill>
                <a:latin typeface="PingFang SC"/>
              </a:rPr>
              <a:t>  关系推理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3273551"/>
            <a:ext cx="1956816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现象 → 根因 → 处置 多跳串联</a:t>
            </a:r>
          </a:p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条款 ↔ 对象、案例 ↔ 条款</a:t>
            </a:r>
          </a:p>
          <a:p>
            <a:pPr algn="l">
              <a:lnSpc>
                <a:spcPct val="114000"/>
              </a:lnSpc>
            </a:pPr>
            <a:r>
              <a:rPr sz="860" b="0">
                <a:solidFill>
                  <a:srgbClr val="61666B"/>
                </a:solidFill>
                <a:latin typeface="PingFang SC"/>
              </a:rPr>
              <a:t>· 一条结论牵出规范与历史全链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3557015"/>
            <a:ext cx="274320" cy="0"/>
          </a:xfrm>
          <a:prstGeom prst="line">
            <a:avLst/>
          </a:prstGeom>
          <a:ln w="16510">
            <a:solidFill>
              <a:srgbClr val="C9862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937760" y="3557015"/>
            <a:ext cx="274320" cy="0"/>
          </a:xfrm>
          <a:prstGeom prst="line">
            <a:avLst/>
          </a:prstGeom>
          <a:ln w="16510">
            <a:solidFill>
              <a:srgbClr val="8B6BE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057400" y="4151375"/>
            <a:ext cx="128016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C9862D"/>
                </a:solidFill>
                <a:latin typeface="PingFang SC"/>
              </a:rPr>
              <a:t>同步向量 / 回表取原文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151375"/>
            <a:ext cx="137160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>
                <a:solidFill>
                  <a:srgbClr val="8B6BE0"/>
                </a:solidFill>
                <a:latin typeface="PingFang SC"/>
              </a:rPr>
              <a:t>抽实体与边 / 回表取证据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43984"/>
            <a:ext cx="6858000" cy="603504"/>
          </a:xfrm>
          <a:prstGeom prst="roundRect">
            <a:avLst>
              <a:gd name="adj" fmla="val 8000"/>
            </a:avLst>
          </a:prstGeom>
          <a:solidFill>
            <a:srgbClr val="EEF3FF"/>
          </a:solidFill>
          <a:ln w="15875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0352" y="4480560"/>
            <a:ext cx="67116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F1115"/>
                </a:solidFill>
                <a:latin typeface="PingFang SC"/>
              </a:rPr>
              <a:t>④ 混合检索：由平台按"发现"发起</a:t>
            </a:r>
            <a:r>
              <a:rPr sz="900" b="1">
                <a:solidFill>
                  <a:srgbClr val="4176E6"/>
                </a:solidFill>
                <a:latin typeface="PingFang SC"/>
              </a:rPr>
              <a:t>  语义 + 词法 + 范围过滤 + 图扩展 → 重排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4736592"/>
            <a:ext cx="67116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61666B"/>
                </a:solidFill>
                <a:latin typeface="PingFang SC"/>
              </a:rPr>
              <a:t>· 检索键 = 规则码 + 对象 + 现象词；命中条款卡 / 处置卡 / 案例卡，连同出处一起交给模型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66944"/>
            <a:ext cx="6858000" cy="530352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15875">
            <a:solidFill>
              <a:srgbClr val="B8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0352" y="5303520"/>
            <a:ext cx="67116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0F1115"/>
                </a:solidFill>
                <a:latin typeface="PingFang SC"/>
              </a:rPr>
              <a:t>⑤ 越用越懂</a:t>
            </a:r>
            <a:r>
              <a:rPr sz="900" b="1">
                <a:solidFill>
                  <a:srgbClr val="B8BCC4"/>
                </a:solidFill>
                <a:latin typeface="PingFang SC"/>
              </a:rPr>
              <a:t>  缺口驱动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5559552"/>
            <a:ext cx="6711696" cy="2011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61666B"/>
                </a:solidFill>
                <a:latin typeface="PingFang SC"/>
              </a:rPr>
              <a:t>· 查不到规范的发现自动排队提示补料；DBA 点"有用 / 无关"回写排序权重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886200" y="1591056"/>
            <a:ext cx="0" cy="201168"/>
          </a:xfrm>
          <a:prstGeom prst="line">
            <a:avLst/>
          </a:prstGeom>
          <a:ln w="15875">
            <a:solidFill>
              <a:srgbClr val="4176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86200" y="2706624"/>
            <a:ext cx="0" cy="274320"/>
          </a:xfrm>
          <a:prstGeom prst="line">
            <a:avLst/>
          </a:prstGeom>
          <a:ln w="15875">
            <a:solidFill>
              <a:srgbClr val="3FA5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86200" y="4133087"/>
            <a:ext cx="0" cy="310897"/>
          </a:xfrm>
          <a:prstGeom prst="line">
            <a:avLst/>
          </a:prstGeom>
          <a:ln w="15875">
            <a:solidFill>
              <a:srgbClr val="4176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5047488"/>
            <a:ext cx="0" cy="219456"/>
          </a:xfrm>
          <a:prstGeom prst="line">
            <a:avLst/>
          </a:prstGeom>
          <a:ln w="15875">
            <a:solidFill>
              <a:srgbClr val="6166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43800" y="1005840"/>
            <a:ext cx="4206240" cy="479145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17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8392" y="1097280"/>
            <a:ext cx="3877055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F1115"/>
                </a:solidFill>
                <a:latin typeface="PingFang SC"/>
              </a:rPr>
              <a:t>效果：最懂工行的那一版建议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08392" y="1444752"/>
            <a:ext cx="3877055" cy="4206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4176E6"/>
                </a:solidFill>
                <a:latin typeface="PingFang SC"/>
              </a:rPr>
              <a:t>知识库 = 工行多年 GaussDB 实战经验的结构化沉淀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61666B"/>
                </a:solidFill>
                <a:latin typeface="PingFang SC"/>
              </a:rPr>
              <a:t>平台判定仍归脚本，知识库负责"按工行的规矩和习惯"给方案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08392" y="1965960"/>
            <a:ext cx="3877055" cy="20116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 w="1270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81544" y="2020824"/>
            <a:ext cx="2194560" cy="146304"/>
          </a:xfrm>
          <a:prstGeom prst="rect">
            <a:avLst/>
          </a:prstGeom>
          <a:noFill/>
        </p:spPr>
        <p:txBody>
          <a:bodyPr wrap="square" lIns="36576" rIns="36576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1858C"/>
                </a:solidFill>
                <a:latin typeface="PingFang SC"/>
              </a:rPr>
              <a:t>示例 · 报告里的一条结论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81544" y="2240279"/>
            <a:ext cx="420624" cy="182880"/>
          </a:xfrm>
          <a:prstGeom prst="roundRect">
            <a:avLst>
              <a:gd name="adj" fmla="val 30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>
                <a:solidFill>
                  <a:srgbClr val="E07A1F"/>
                </a:solidFill>
                <a:latin typeface="PingFang SC"/>
              </a:rPr>
              <a:t>warn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8744" y="2212848"/>
            <a:ext cx="3346703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F1115"/>
                </a:solidFill>
                <a:latin typeface="PingFang SC"/>
              </a:rPr>
              <a:t>系统表膨胀 · 全量 SQL 追踪表 16GB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81544" y="2532888"/>
            <a:ext cx="1188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3FA552"/>
                </a:solidFill>
                <a:latin typeface="PingFang SC"/>
              </a:rPr>
              <a:t>贵行规范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88552" y="2532888"/>
            <a:ext cx="259689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全量 SQL 追踪仅在诊断窗口开启（强制）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81544" y="3081528"/>
            <a:ext cx="1188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8B6BE0"/>
                </a:solidFill>
                <a:latin typeface="PingFang SC"/>
              </a:rPr>
              <a:t>历史相似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2" y="3081528"/>
            <a:ext cx="259689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同类问题曾降追踪级别后重建，2 小时恢复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81544" y="3630168"/>
            <a:ext cx="11887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4176E6"/>
                </a:solidFill>
                <a:latin typeface="PingFang SC"/>
              </a:rPr>
              <a:t>建议 · 工行口径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8552" y="3630168"/>
            <a:ext cx="259689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1666B"/>
                </a:solidFill>
                <a:latin typeface="PingFang SC"/>
              </a:rPr>
              <a:t>提变更单 → 23:00–06:00 窗口 → 双人复核</a:t>
            </a:r>
          </a:p>
        </p:txBody>
      </p:sp>
      <p:sp>
        <p:nvSpPr>
          <p:cNvPr id="54" name="Oval 53"/>
          <p:cNvSpPr/>
          <p:nvPr/>
        </p:nvSpPr>
        <p:spPr>
          <a:xfrm>
            <a:off x="7726679" y="4242816"/>
            <a:ext cx="237744" cy="237744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7575" y="4215383"/>
            <a:ext cx="354787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说工行的话</a:t>
            </a:r>
            <a:r>
              <a:rPr sz="930" b="0">
                <a:solidFill>
                  <a:srgbClr val="61666B"/>
                </a:solidFill>
                <a:latin typeface="PingFang SC"/>
              </a:rPr>
              <a:t>   用贵行的术语与流程给建议，不给通用套话</a:t>
            </a:r>
          </a:p>
        </p:txBody>
      </p:sp>
      <p:sp>
        <p:nvSpPr>
          <p:cNvPr id="56" name="Oval 55"/>
          <p:cNvSpPr/>
          <p:nvPr/>
        </p:nvSpPr>
        <p:spPr>
          <a:xfrm>
            <a:off x="7726679" y="4663440"/>
            <a:ext cx="237744" cy="237744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37575" y="4636007"/>
            <a:ext cx="354787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每条有出处</a:t>
            </a:r>
            <a:r>
              <a:rPr sz="930" b="0">
                <a:solidFill>
                  <a:srgbClr val="61666B"/>
                </a:solidFill>
                <a:latin typeface="PingFang SC"/>
              </a:rPr>
              <a:t>   引用可追到哪一版哪一条；查不到就写"无对应规范"</a:t>
            </a:r>
          </a:p>
        </p:txBody>
      </p:sp>
      <p:sp>
        <p:nvSpPr>
          <p:cNvPr id="58" name="Oval 57"/>
          <p:cNvSpPr/>
          <p:nvPr/>
        </p:nvSpPr>
        <p:spPr>
          <a:xfrm>
            <a:off x="7726679" y="5084064"/>
            <a:ext cx="237744" cy="237744"/>
          </a:xfrm>
          <a:prstGeom prst="ellipse">
            <a:avLst/>
          </a:prstGeom>
          <a:solidFill>
            <a:srgbClr val="417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7575" y="5056631"/>
            <a:ext cx="3547872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1115"/>
                </a:solidFill>
                <a:latin typeface="PingFang SC"/>
              </a:rPr>
              <a:t>口径按工行</a:t>
            </a:r>
            <a:r>
              <a:rPr sz="930" b="0">
                <a:solidFill>
                  <a:srgbClr val="61666B"/>
                </a:solidFill>
                <a:latin typeface="PingFang SC"/>
              </a:rPr>
              <a:t>   客户标准与平台默认不一致 → 差异清单，人确认后生效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315200" y="4745736"/>
            <a:ext cx="228600" cy="0"/>
          </a:xfrm>
          <a:prstGeom prst="line">
            <a:avLst/>
          </a:prstGeom>
          <a:ln w="19050">
            <a:solidFill>
              <a:srgbClr val="4176E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57200" y="6053328"/>
            <a:ext cx="7498079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81858C"/>
                </a:solidFill>
                <a:latin typeface="PingFang SC"/>
              </a:rPr>
              <a:t>图例：实线 = 主流程；框间双向箭头 = 存储层之间的同步与回表；三类存储只写类型，不绑定具体产品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0" y="6053328"/>
            <a:ext cx="35661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0">
                <a:solidFill>
                  <a:srgbClr val="81858C"/>
                </a:solidFill>
                <a:latin typeface="PingFang SC"/>
              </a:rPr>
              <a:t>opendb-harness · 客户知识库一页 · 2026-09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