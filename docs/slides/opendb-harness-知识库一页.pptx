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1115"/>
                </a:solidFill>
                <a:latin typeface="PingFang SC"/>
              </a:rPr>
              <a:t>客户知识库：从"存着"到"真懂"</a:t>
            </a:r>
            <a:r>
              <a:rPr sz="1400" b="0">
                <a:solidFill>
                  <a:srgbClr val="61666B"/>
                </a:solidFill>
                <a:latin typeface="PingFang SC"/>
              </a:rPr>
              <a:t>   基于工行多年 GaussDB 实战经验，给出最懂工行风格的方案与建议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47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176E6"/>
                </a:solidFill>
                <a:latin typeface="PingFang SC"/>
              </a:rPr>
              <a:t>几十篇使用规范 + 上千条问题处理工单 + 上百份故障分析总结 → 结构化 → 三类存储各司其职 → 每一条诊断结论旁都能说出"贵行规范怎么说、上次工行怎么处理"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78992"/>
            <a:ext cx="2410968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226466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使用规范</a:t>
            </a:r>
            <a:r>
              <a:rPr sz="850" b="1">
                <a:solidFill>
                  <a:srgbClr val="C9CED6"/>
                </a:solidFill>
                <a:latin typeface="PingFang SC"/>
              </a:rPr>
              <a:t>  几十篇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71600"/>
            <a:ext cx="2264664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61666B"/>
                </a:solidFill>
                <a:latin typeface="PingFang SC"/>
              </a:rPr>
              <a:t>· 运维/变更/安全规范、准入标准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7896" y="1078992"/>
            <a:ext cx="2410968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051048" y="1115568"/>
            <a:ext cx="226466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问题处理工单</a:t>
            </a:r>
            <a:r>
              <a:rPr sz="850" b="1">
                <a:solidFill>
                  <a:srgbClr val="C9CED6"/>
                </a:solidFill>
                <a:latin typeface="PingFang SC"/>
              </a:rPr>
              <a:t>  上千条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048" y="1371600"/>
            <a:ext cx="2264664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61666B"/>
                </a:solidFill>
                <a:latin typeface="PingFang SC"/>
              </a:rPr>
              <a:t>· 现象、处置动作、验证与耗时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98592" y="1078992"/>
            <a:ext cx="2410968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71744" y="1115568"/>
            <a:ext cx="226466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故障分析总结</a:t>
            </a:r>
            <a:r>
              <a:rPr sz="850" b="1">
                <a:solidFill>
                  <a:srgbClr val="C9CED6"/>
                </a:solidFill>
                <a:latin typeface="PingFang SC"/>
              </a:rPr>
              <a:t>  上百份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1744" y="1371600"/>
            <a:ext cx="2264664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61666B"/>
                </a:solidFill>
                <a:latin typeface="PingFang SC"/>
              </a:rPr>
              <a:t>· 根因、影响面、复发防范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932688"/>
            <a:ext cx="745236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1858C"/>
                </a:solidFill>
                <a:latin typeface="PingFang SC"/>
              </a:rPr>
              <a:t>① 工行既有资料（多来源、多格式、无统一结构）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847088"/>
            <a:ext cx="7452360" cy="548640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15875">
            <a:solidFill>
              <a:srgbClr val="417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0352" y="1883664"/>
            <a:ext cx="730605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② 摄入与治理</a:t>
            </a:r>
            <a:r>
              <a:rPr sz="900" b="1">
                <a:solidFill>
                  <a:srgbClr val="4176E6"/>
                </a:solidFill>
                <a:latin typeface="PingFang SC"/>
              </a:rPr>
              <a:t>  自动化管线 · 增量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2139696"/>
            <a:ext cx="7306056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61666B"/>
                </a:solidFill>
                <a:latin typeface="PingFang SC"/>
              </a:rPr>
              <a:t>· 格式归一（文档 / 表格 / 工单导出 / 邮件）→ 语义切块；每篇强制打元数据：类型 · 适用引擎与环境 · 生效时间 · 版本 · 密级</a:t>
            </a:r>
          </a:p>
          <a:p>
            <a:pPr algn="l">
              <a:lnSpc>
                <a:spcPct val="112000"/>
              </a:lnSpc>
            </a:pPr>
            <a:r>
              <a:rPr sz="860" b="0">
                <a:solidFill>
                  <a:srgbClr val="61666B"/>
                </a:solidFill>
                <a:latin typeface="PingFang SC"/>
              </a:rPr>
              <a:t>· 同源资料重灌产出新版本而非覆盖——报告引用永远能追溯到"当时依据的是哪一版规范"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596896"/>
            <a:ext cx="7452360" cy="91440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15875">
            <a:solidFill>
              <a:srgbClr val="3FA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0352" y="2633472"/>
            <a:ext cx="730605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③ 结构化抽取：把文本变成"可判定/可复用"的知识</a:t>
            </a:r>
            <a:r>
              <a:rPr sz="850" b="1">
                <a:solidFill>
                  <a:srgbClr val="3FA552"/>
                </a:solidFill>
                <a:latin typeface="PingFang SC"/>
              </a:rPr>
              <a:t>  模型抽取 + 人工确认后才可被引用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962656"/>
            <a:ext cx="237439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0F1115"/>
                </a:solidFill>
                <a:latin typeface="PingFang SC"/>
              </a:rPr>
              <a:t>规范 → 条款卡</a:t>
            </a:r>
          </a:p>
          <a:p>
            <a:pPr algn="l">
              <a:lnSpc>
                <a:spcPct val="112000"/>
              </a:lnSpc>
            </a:pPr>
            <a:r>
              <a:rPr sz="819" b="0">
                <a:solidFill>
                  <a:srgbClr val="61666B"/>
                </a:solidFill>
                <a:latin typeface="PingFang SC"/>
              </a:rPr>
              <a:t>约束对象 · 条件 · 要求值 · 强制/建议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6184" y="2962656"/>
            <a:ext cx="237439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0F1115"/>
                </a:solidFill>
                <a:latin typeface="PingFang SC"/>
              </a:rPr>
              <a:t>工单 → 处置卡</a:t>
            </a:r>
          </a:p>
          <a:p>
            <a:pPr algn="l">
              <a:lnSpc>
                <a:spcPct val="112000"/>
              </a:lnSpc>
            </a:pPr>
            <a:r>
              <a:rPr sz="819" b="0">
                <a:solidFill>
                  <a:srgbClr val="61666B"/>
                </a:solidFill>
                <a:latin typeface="PingFang SC"/>
              </a:rPr>
              <a:t>现象 · 动作 · 验证方式 · 耗时 · 涉及对象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5440" y="2962656"/>
            <a:ext cx="237439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0F1115"/>
                </a:solidFill>
                <a:latin typeface="PingFang SC"/>
              </a:rPr>
              <a:t>故障总结 → 案例卡</a:t>
            </a:r>
          </a:p>
          <a:p>
            <a:pPr algn="l">
              <a:lnSpc>
                <a:spcPct val="112000"/>
              </a:lnSpc>
            </a:pPr>
            <a:r>
              <a:rPr sz="819" b="0">
                <a:solidFill>
                  <a:srgbClr val="61666B"/>
                </a:solidFill>
                <a:latin typeface="PingFang SC"/>
              </a:rPr>
              <a:t>现象 · 影响 · 根因 · 处置 · 防复发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02736"/>
            <a:ext cx="745236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1858C"/>
                </a:solidFill>
                <a:latin typeface="PingFang SC"/>
              </a:rPr>
              <a:t>④ 三类存储各司其职：真相只有一份，能力互补，任一层不可用都能降级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67328"/>
            <a:ext cx="2301240" cy="1243584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5875">
            <a:solidFill>
              <a:srgbClr val="8A90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0352" y="3803904"/>
            <a:ext cx="215493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关系型数据库</a:t>
            </a:r>
            <a:r>
              <a:rPr sz="850" b="1">
                <a:solidFill>
                  <a:srgbClr val="8A9099"/>
                </a:solidFill>
                <a:latin typeface="PingFang SC"/>
              </a:rPr>
              <a:t>  唯一真相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4059936"/>
            <a:ext cx="2154936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文档 · 版本 · 条款卡 / 处置卡 / 案例卡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记忆系统：平台在贵行环境里做过什么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引用台账：哪条结论引用了哪一版哪一条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精确过滤：引擎 · 环境 · 生效期 · 权限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32760" y="3767328"/>
            <a:ext cx="2301240" cy="1243584"/>
          </a:xfrm>
          <a:prstGeom prst="roundRect">
            <a:avLst>
              <a:gd name="adj" fmla="val 8000"/>
            </a:avLst>
          </a:prstGeom>
          <a:solidFill>
            <a:srgbClr val="FDF0E3"/>
          </a:solidFill>
          <a:ln w="15875">
            <a:solidFill>
              <a:srgbClr val="C9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05912" y="3803904"/>
            <a:ext cx="215493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向量数据库</a:t>
            </a:r>
            <a:r>
              <a:rPr sz="850" b="1">
                <a:solidFill>
                  <a:srgbClr val="C9862D"/>
                </a:solidFill>
                <a:latin typeface="PingFang SC"/>
              </a:rPr>
              <a:t>  语义召回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5912" y="4059936"/>
            <a:ext cx="2154936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切块与卡片的向量索引，规模化近邻检索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解决"说法不同、意思相同"的召回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贵行说"连接打满" ↔ 平台判"连接超阈值"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不存业务事实——只加速，可随时重建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08320" y="3767328"/>
            <a:ext cx="2301240" cy="1243584"/>
          </a:xfrm>
          <a:prstGeom prst="roundRect">
            <a:avLst>
              <a:gd name="adj" fmla="val 8000"/>
            </a:avLst>
          </a:prstGeom>
          <a:solidFill>
            <a:srgbClr val="F3EEFC"/>
          </a:solidFill>
          <a:ln w="15875">
            <a:solidFill>
              <a:srgbClr val="8B6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681472" y="3803904"/>
            <a:ext cx="215493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图数据库</a:t>
            </a:r>
            <a:r>
              <a:rPr sz="850" b="1">
                <a:solidFill>
                  <a:srgbClr val="8B6BE0"/>
                </a:solidFill>
                <a:latin typeface="PingFang SC"/>
              </a:rPr>
              <a:t>  关系推理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1472" y="4059936"/>
            <a:ext cx="2154936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实体：对象 · 现象 · 根因 · 处置动作 · 条款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边：现象→根因→处置、条款→约束对象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案例→引用条款、故障→涉及节点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多跳串联：一条结论牵出规范与历史全链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58440" y="4389120"/>
            <a:ext cx="274320" cy="0"/>
          </a:xfrm>
          <a:prstGeom prst="line">
            <a:avLst/>
          </a:prstGeom>
          <a:ln w="16510">
            <a:solidFill>
              <a:srgbClr val="C9862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34000" y="4389120"/>
            <a:ext cx="274320" cy="0"/>
          </a:xfrm>
          <a:prstGeom prst="line">
            <a:avLst/>
          </a:prstGeom>
          <a:ln w="16510">
            <a:solidFill>
              <a:srgbClr val="8B6BE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209800" y="5038344"/>
            <a:ext cx="1371600" cy="1463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>
                <a:solidFill>
                  <a:srgbClr val="C9862D"/>
                </a:solidFill>
                <a:latin typeface="PingFang SC"/>
              </a:rPr>
              <a:t>同步向量 / 回表取原文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39640" y="5038344"/>
            <a:ext cx="1463040" cy="1463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>
                <a:solidFill>
                  <a:srgbClr val="8B6BE0"/>
                </a:solidFill>
                <a:latin typeface="PingFang SC"/>
              </a:rPr>
              <a:t>抽实体与边 / 回表取证据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230368"/>
            <a:ext cx="7452360" cy="530352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15875">
            <a:solidFill>
              <a:srgbClr val="417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30352" y="5266944"/>
            <a:ext cx="730605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⑤ 混合检索编排（由平台按"发现"发起，不靠模型自己想起来查）</a:t>
            </a:r>
            <a:r>
              <a:rPr sz="850" b="1">
                <a:solidFill>
                  <a:srgbClr val="4176E6"/>
                </a:solidFill>
                <a:latin typeface="PingFang SC"/>
              </a:rPr>
              <a:t>  语义 + 词法 + 结构过滤 + 图扩展 → 重排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5522976"/>
            <a:ext cx="7306056" cy="20116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61666B"/>
                </a:solidFill>
                <a:latin typeface="PingFang SC"/>
              </a:rPr>
              <a:t>· 检索键 = 规则码 + 对象 + 现象词：语义召回近义说法、词法精确命中错误码与对象名、按引擎/环境/生效期过滤、再沿图扩展到根因与历史处置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70448"/>
            <a:ext cx="7452360" cy="786384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 w="15875">
            <a:solidFill>
              <a:srgbClr val="B8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30352" y="5907024"/>
            <a:ext cx="730605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⑥ 用在哪：贴到平台每一条确定性结论旁</a:t>
            </a:r>
            <a:r>
              <a:rPr sz="850" b="1">
                <a:solidFill>
                  <a:srgbClr val="B8BCC4"/>
                </a:solidFill>
                <a:latin typeface="PingFang SC"/>
              </a:rPr>
              <a:t>  引用必须有出处 · 查不到就写"无对应规范"，绝不编造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181344"/>
            <a:ext cx="1780794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0F1115"/>
                </a:solidFill>
                <a:latin typeface="PingFang SC"/>
              </a:rPr>
              <a:t>规范对照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61666B"/>
                </a:solidFill>
                <a:latin typeface="PingFang SC"/>
              </a:rPr>
              <a:t>结论旁引用条款原文（参考不改判）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84298" y="6181344"/>
            <a:ext cx="1780794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0F1115"/>
                </a:solidFill>
                <a:latin typeface="PingFang SC"/>
              </a:rPr>
              <a:t>建议本地化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61666B"/>
                </a:solidFill>
                <a:latin typeface="PingFang SC"/>
              </a:rPr>
              <a:t>按贵行流程改写处置建议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1668" y="6181344"/>
            <a:ext cx="1780794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0F1115"/>
                </a:solidFill>
                <a:latin typeface="PingFang SC"/>
              </a:rPr>
              <a:t>阈值对齐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61666B"/>
                </a:solidFill>
                <a:latin typeface="PingFang SC"/>
              </a:rPr>
              <a:t>工行口径差异清单 → 人确认后生效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9038" y="6181344"/>
            <a:ext cx="1780794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0F1115"/>
                </a:solidFill>
                <a:latin typeface="PingFang SC"/>
              </a:rPr>
              <a:t>案例复用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61666B"/>
                </a:solidFill>
                <a:latin typeface="PingFang SC"/>
              </a:rPr>
              <a:t>相似历史故障的处置与耗时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183380" y="1645920"/>
            <a:ext cx="0" cy="201168"/>
          </a:xfrm>
          <a:prstGeom prst="line">
            <a:avLst/>
          </a:prstGeom>
          <a:ln w="15875">
            <a:solidFill>
              <a:srgbClr val="4176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183380" y="2395728"/>
            <a:ext cx="0" cy="201168"/>
          </a:xfrm>
          <a:prstGeom prst="line">
            <a:avLst/>
          </a:prstGeom>
          <a:ln w="15875">
            <a:solidFill>
              <a:srgbClr val="3FA5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183380" y="3511296"/>
            <a:ext cx="0" cy="256032"/>
          </a:xfrm>
          <a:prstGeom prst="line">
            <a:avLst/>
          </a:prstGeom>
          <a:ln w="15875">
            <a:solidFill>
              <a:srgbClr val="6166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183380" y="5010912"/>
            <a:ext cx="0" cy="219456"/>
          </a:xfrm>
          <a:prstGeom prst="line">
            <a:avLst/>
          </a:prstGeom>
          <a:ln w="15875">
            <a:solidFill>
              <a:srgbClr val="4176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183380" y="5760720"/>
            <a:ext cx="0" cy="109728"/>
          </a:xfrm>
          <a:prstGeom prst="line">
            <a:avLst/>
          </a:prstGeom>
          <a:ln w="15875">
            <a:solidFill>
              <a:srgbClr val="6166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83879" y="1078992"/>
            <a:ext cx="3566160" cy="5577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1152144"/>
            <a:ext cx="32918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115"/>
                </a:solidFill>
                <a:latin typeface="PingFang SC"/>
              </a:rPr>
              <a:t>效果：基于工行多年 GaussDB 实战经验</a:t>
            </a:r>
          </a:p>
        </p:txBody>
      </p:sp>
      <p:sp>
        <p:nvSpPr>
          <p:cNvPr id="52" name="Oval 51"/>
          <p:cNvSpPr/>
          <p:nvPr/>
        </p:nvSpPr>
        <p:spPr>
          <a:xfrm>
            <a:off x="8348471" y="1572768"/>
            <a:ext cx="274320" cy="274320"/>
          </a:xfrm>
          <a:prstGeom prst="ellipse">
            <a:avLst/>
          </a:prstGeom>
          <a:solidFill>
            <a:srgbClr val="417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14232" y="1536192"/>
            <a:ext cx="288036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懂工行的规矩：能对账，不只是能搜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14232" y="1828800"/>
            <a:ext cx="28803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61666B"/>
                </a:solidFill>
                <a:latin typeface="PingFang SC"/>
              </a:rPr>
              <a:t>规范变成条款卡后，与平台内置的确定性规则逐条比对：贵行有要求、平台在判但阈值不同 → 差异清单；贵行有要求、平台没规则 → 能力缺口；平台在判、贵行没写 → 建议补进规范。知识库因此从"资料检索"变成"按工行口径工作"。</a:t>
            </a:r>
          </a:p>
        </p:txBody>
      </p:sp>
      <p:sp>
        <p:nvSpPr>
          <p:cNvPr id="55" name="Oval 54"/>
          <p:cNvSpPr/>
          <p:nvPr/>
        </p:nvSpPr>
        <p:spPr>
          <a:xfrm>
            <a:off x="8348471" y="2889503"/>
            <a:ext cx="274320" cy="274320"/>
          </a:xfrm>
          <a:prstGeom prst="ellipse">
            <a:avLst/>
          </a:prstGeom>
          <a:solidFill>
            <a:srgbClr val="417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14232" y="2852927"/>
            <a:ext cx="288036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懂工行的处置习惯：给的是贵行的做法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14232" y="3145535"/>
            <a:ext cx="28803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61666B"/>
                </a:solidFill>
                <a:latin typeface="PingFang SC"/>
              </a:rPr>
              <a:t>上千条工单与上百份故障总结沉淀成处置卡 / 案例卡，遇到相似问题直接给贵行历史上的处置路径与耗时；建议按贵行流程表述——提变更单、低峰窗口、双人复核，而不是通用套话。</a:t>
            </a:r>
          </a:p>
        </p:txBody>
      </p:sp>
      <p:sp>
        <p:nvSpPr>
          <p:cNvPr id="58" name="Oval 57"/>
          <p:cNvSpPr/>
          <p:nvPr/>
        </p:nvSpPr>
        <p:spPr>
          <a:xfrm>
            <a:off x="8348471" y="4206240"/>
            <a:ext cx="274320" cy="274320"/>
          </a:xfrm>
          <a:prstGeom prst="ellipse">
            <a:avLst/>
          </a:prstGeom>
          <a:solidFill>
            <a:srgbClr val="417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14232" y="4169664"/>
            <a:ext cx="288036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两套经验双轮驱动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14232" y="4462272"/>
            <a:ext cx="28803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61666B"/>
                </a:solidFill>
                <a:latin typeface="PingFang SC"/>
              </a:rPr>
              <a:t>知识 = 工行多年沉淀的规范与案例；记忆 = 平台在这套 GaussDB 环境里做过什么、上次结论是什么。两者同库同源、互为佐证——既懂贵行的规矩，也记得这套库的脾气。</a:t>
            </a:r>
          </a:p>
        </p:txBody>
      </p:sp>
      <p:sp>
        <p:nvSpPr>
          <p:cNvPr id="61" name="Oval 60"/>
          <p:cNvSpPr/>
          <p:nvPr/>
        </p:nvSpPr>
        <p:spPr>
          <a:xfrm>
            <a:off x="8348471" y="5522975"/>
            <a:ext cx="274320" cy="274320"/>
          </a:xfrm>
          <a:prstGeom prst="ellipse">
            <a:avLst/>
          </a:prstGeom>
          <a:solidFill>
            <a:srgbClr val="417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14232" y="5486400"/>
            <a:ext cx="288036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越用越懂：缺口驱动地长大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14232" y="5779007"/>
            <a:ext cx="28803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61666B"/>
                </a:solidFill>
                <a:latin typeface="PingFang SC"/>
              </a:rPr>
              <a:t>报告里"无对应规范"的发现自动排队，提示补哪类资料；DBA 对每条引用点"有用 / 无关"回写排序权重。冷启动只需先灌最核心的几十篇，而不是一次性倒进所有历史文档。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693408"/>
            <a:ext cx="7498079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81858C"/>
                </a:solidFill>
                <a:latin typeface="PingFang SC"/>
              </a:rPr>
              <a:t>图例：实线箭头 = 主流程；框间双向箭头 = 存储层之间的同步与回表；三类存储只写类型，不绑定具体产品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6693408"/>
            <a:ext cx="356616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0">
                <a:solidFill>
                  <a:srgbClr val="81858C"/>
                </a:solidFill>
                <a:latin typeface="PingFang SC"/>
              </a:rPr>
              <a:t>opendb-harness · 客户知识库一页 ·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